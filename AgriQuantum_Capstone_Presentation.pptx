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QUANTUM COMPUTING CAPSTONE PROJECT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AgriQuantum: Quantum Optimization-Based</a:t>
            </a:r>
            <a:br/>
            <a:r>
              <a:t>Agricultural Supply Chain Allocation</a:t>
            </a:r>
          </a:p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A Zero-Slack QUBO &amp; QAOA Approach for Capacitated Farm-to-Market Dispatch in Tamil Nadu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493776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D9488"/>
                </a:solidFill>
              </a:defRPr>
            </a:pPr>
            <a:r>
              <a:t>PROJECT TEAM MEMBERS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1. Raaghav vel P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    Roll Number: CH.SC.u4cse24155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2. Srinivas 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    Roll Number: CH.SC.U4CSE24146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50292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420624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284C7"/>
                </a:solidFill>
              </a:defRPr>
            </a:pPr>
            <a:r>
              <a:t>ACADEMIC DETAILS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Department of Computer Science &amp; Engineering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Course: Quantum Computing (5th Semester Capstone)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Framework: Qiskit 2.4 &amp; Hybrid Classical-Quantum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QUANTUM COMPUTING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Problem Statement: Agricultural Dispatch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D9488"/>
                </a:solidFill>
              </a:defRPr>
            </a:pPr>
            <a:r>
              <a:t>WHAT IS THE PROBLEM?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Daily Farm-to-Market Dispatch: Allocating freshly harvested batches from rural collection centres to wholesale markets across Tamil Nadu.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Multiple Competing Factors: Dynamic market prices, perishable crop shelf-life deadlines, transport freight costs, and market throughput limits.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Operational Constraints: Each batch can go to at most 1 market, and aggregate shipment weight must never exceed destination capacity.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284C7"/>
                </a:solidFill>
              </a:defRPr>
            </a:pPr>
            <a:r>
              <a:t>WHY MUST IT BE SOLVED?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Heavy Post-Harvest Losses: Perishable crops (tomatoes, onions) rot if transit times violate freshness deadlines.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Suboptimal Farmer Returns: Produce is frequently dumped at nearby saturated markets at rock-bottom prices instead of high-demand markets.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High Fuel &amp; Freight Costs: Uncoordinated dispatch routes result in empty return trips and excessive diesel consumption.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Market Bottlenecks: Overloading Uzhavar Santhai stalls leads to severe municipal logistics chaos.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7C3AED"/>
                </a:solidFill>
              </a:defRPr>
            </a:pPr>
            <a:r>
              <a:t>SIGNIFICANCE OF THE SOLUTION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NP-Hard Combinatorial Problem: Assigning B batches to M candidate markets has a search space of O(M^B).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Exponential Scaling: Classical Branch-and-Cut exact solvers scale exponentially as supply networks expand state-wide.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Quantum Computing Value: Quadratic Unconstrained Binary Optimization (QUBO) maps directly to physical quantum spin systems.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Real-World Impact: Maximizes net farmer profit, guarantees zero food spoilage, and enforces strict market capacity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QUANTUM COMPUTING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Project Objectives &amp; Technical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</a:defRPr>
            </a:pPr>
            <a:r>
              <a:t>1. HOW WE PLAN TO SOLVE THE PROBLEM (Mathematical QUBO Formulation)</a:t>
            </a:r>
          </a:p>
          <a:p>
            <a:pPr>
              <a:defRPr sz="1250">
                <a:solidFill>
                  <a:srgbClr val="475569"/>
                </a:solidFill>
              </a:defRPr>
            </a:pPr>
            <a:r>
              <a:t>Model the agricultural dispatch challenge as a Quadratic Unconstrained Binary Optimization (QUBO) problem. Objective maximizes Net Profit = (Revenue - Transport Cost - Lateness Penalty + Unsold Produce Saved). Pairwise quadratic penalty terms bake batch exclusivity and market capacity limits into the objective function without auxiliary slack qubits.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284C7"/>
                </a:solidFill>
              </a:defRPr>
            </a:pPr>
            <a:r>
              <a:t>2. THE APPROACH WE ARE FOLLOWING (Rigorous Ising Hamiltonian Mapping &amp; Pruning)</a:t>
            </a:r>
          </a:p>
          <a:p>
            <a:pPr>
              <a:defRPr sz="1250">
                <a:solidFill>
                  <a:srgbClr val="475569"/>
                </a:solidFill>
              </a:defRPr>
            </a:pPr>
            <a:r>
              <a:t>Apply a static pre-solve pruning filter to drop provably infeasible batch-market pairs (violating shelf-life deadlines or crop eligibility). Transform binary decision variables x_i in {0, 1} to Pauli-Z spin operators Z_i in {+1, -1} via x_i = (I - Z_i)/2, deriving exact longitudinal fields h_i and two-qubit Ising couplings J_ij with verified mathematical equivalence.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9204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C3AED"/>
                </a:solidFill>
              </a:defRPr>
            </a:pPr>
            <a:r>
              <a:t>3. THE QUANTUM ALGORITHM USED (Multi-Layer Parameterized QAOA Benchmark)</a:t>
            </a:r>
          </a:p>
          <a:p>
            <a:pPr>
              <a:defRPr sz="1250">
                <a:solidFill>
                  <a:srgbClr val="475569"/>
                </a:solidFill>
              </a:defRPr>
            </a:pPr>
            <a:r>
              <a:t>Implement the Quantum Approximate Optimization Algorithm (QAOA) with circuit depth p. Initialize angles with a greedy warm-start bias, evolve the statevector via vectorized butterfly operations, draw 2,048 quantum measurement shots, and benchmark against Classical Exact (HiGHS MILP Branch-and-Cut), Greedy Heuristic, and Simulated Annealing.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ALGORITHM SPECIFICATION —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Proposed Algorithm: Quantum Approximate Optimization Algorithm (QAOA)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</a:defRPr>
            </a:pPr>
            <a:r>
              <a:t>ALGORITHM OVERVIEW &amp; PRINCIPLE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Algorithm Name: Quantum Approximate Optimization Algorithm (QAOA)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Class: Hybrid Quantum-Classical Variational Algorithm designed for NISQ hardware.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Operating Principle: QAOA prepares a parameterized quantum state |psi(gamma, beta)&gt; by alternating between a problem Cost Hamiltonian U(C, gamma) and a Mixer Hamiltonian U(B, beta).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Cost Hamiltonian H_C: Encodes the supply chain objective and constraint penalties into diagonal Ising phase rotations.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Mixer Hamiltonian H_M: Applies transverse magnetic fields (sum of Pauli X operators) enabling quantum tunneling between configuration states.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Variational Loop: A classical optimizer (COBYLA) tunes angles (gamma, beta) to converge onto the ground state energy.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284C7"/>
                </a:solidFill>
              </a:defRPr>
            </a:pPr>
            <a:r>
              <a:t>MATHEMATICAL &amp; ISING FORMULATION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</a:defRPr>
            </a:pPr>
            <a:r>
              <a:t>1. Decision Variables:</a:t>
            </a:r>
          </a:p>
          <a:p>
            <a:pPr>
              <a:spcAft>
                <a:spcPts val="300"/>
              </a:spcAft>
              <a:defRPr sz="1150" b="0">
                <a:solidFill>
                  <a:srgbClr val="475569"/>
                </a:solidFill>
              </a:defRPr>
            </a:pPr>
            <a:r>
              <a:t>    x_{b,m} in {0, 1} indicates batch b is dispatched to market m.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</a:defRPr>
            </a:pPr>
            <a:r>
              <a:t>2. Objective Function (Net Margin):</a:t>
            </a:r>
          </a:p>
          <a:p>
            <a:pPr>
              <a:spcAft>
                <a:spcPts val="300"/>
              </a:spcAft>
              <a:defRPr sz="1150" b="0">
                <a:solidFill>
                  <a:srgbClr val="475569"/>
                </a:solidFill>
              </a:defRPr>
            </a:pPr>
            <a:r>
              <a:t>    min  E(x) = sum_i c_i x_i + sum_{i&lt;j} Q_{ij} x_i x_j</a:t>
            </a:r>
          </a:p>
          <a:p>
            <a:pPr>
              <a:spcAft>
                <a:spcPts val="300"/>
              </a:spcAft>
              <a:defRPr sz="1150" b="0">
                <a:solidFill>
                  <a:srgbClr val="475569"/>
                </a:solidFill>
              </a:defRPr>
            </a:pPr>
            <a:r>
              <a:t>    where c_i = -ProfitGain_i / Scale.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</a:defRPr>
            </a:pPr>
            <a:r>
              <a:t>3. Zero-Slack Batch Exclusivity Penalty:</a:t>
            </a:r>
          </a:p>
          <a:p>
            <a:pPr>
              <a:spcAft>
                <a:spcPts val="300"/>
              </a:spcAft>
              <a:defRPr sz="1150" b="0">
                <a:solidFill>
                  <a:srgbClr val="475569"/>
                </a:solidFill>
              </a:defRPr>
            </a:pPr>
            <a:r>
              <a:t>    Penalty_{batch} = P_{batch} * sum_{i&lt;j, same b} x_i * x_j</a:t>
            </a:r>
          </a:p>
          <a:p>
            <a:pPr>
              <a:spcAft>
                <a:spcPts val="300"/>
              </a:spcAft>
              <a:defRPr sz="1150" b="0">
                <a:solidFill>
                  <a:srgbClr val="475569"/>
                </a:solidFill>
              </a:defRPr>
            </a:pPr>
            <a:r>
              <a:t>    (Strictly 0 if &lt;= 1 market chosen; penalizes multiple assignments).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</a:defRPr>
            </a:pPr>
            <a:r>
              <a:t>4. Pairwise Capacity Penalties:</a:t>
            </a:r>
          </a:p>
          <a:p>
            <a:pPr>
              <a:spcAft>
                <a:spcPts val="300"/>
              </a:spcAft>
              <a:defRPr sz="1150" b="0">
                <a:solidFill>
                  <a:srgbClr val="475569"/>
                </a:solidFill>
              </a:defRPr>
            </a:pPr>
            <a:r>
              <a:t>    Penalty_{cap} = sum_{u&lt;v, same m} (P_{hard} * I(q_u+q_v &gt; C_m)) * x_u * x_v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</a:defRPr>
            </a:pPr>
            <a:r>
              <a:t>5. Exact Ising Spin Transformation [x_i = (I - Z_i)/2]:</a:t>
            </a:r>
          </a:p>
          <a:p>
            <a:pPr>
              <a:spcAft>
                <a:spcPts val="300"/>
              </a:spcAft>
              <a:defRPr sz="1150" b="0">
                <a:solidFill>
                  <a:srgbClr val="475569"/>
                </a:solidFill>
              </a:defRPr>
            </a:pPr>
            <a:r>
              <a:t>    h_i = -c_i / 2 - sum_{j != i} Q_{ij} / 4</a:t>
            </a:r>
          </a:p>
          <a:p>
            <a:pPr>
              <a:spcAft>
                <a:spcPts val="300"/>
              </a:spcAft>
              <a:defRPr sz="1150" b="0">
                <a:solidFill>
                  <a:srgbClr val="475569"/>
                </a:solidFill>
              </a:defRPr>
            </a:pPr>
            <a:r>
              <a:t>    J_{ij} = Q_{ij} / 4</a:t>
            </a:r>
          </a:p>
          <a:p>
            <a:pPr>
              <a:spcAft>
                <a:spcPts val="300"/>
              </a:spcAft>
              <a:defRPr sz="1150" b="0">
                <a:solidFill>
                  <a:srgbClr val="475569"/>
                </a:solidFill>
              </a:defRPr>
            </a:pPr>
            <a:r>
              <a:t>    H_C = sum_i h_i Z_i + sum_{i&lt;j} J_{ij} Z_i Z_j + Offset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ALGORITHM SPECIFICATION —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Proposed Algorithm: Execution Workflow &amp; Pseudocode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STEP-BY-STEP EXECUTION FLOW</a:t>
            </a:r>
          </a:p>
        </p:txBody>
      </p:sp>
      <p:pic>
        <p:nvPicPr>
          <p:cNvPr id="6" name="Picture 5" descr="qaoa_execution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48463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</a:defRPr>
            </a:pPr>
            <a:r>
              <a:t>ALGORITHM PSEUDOCODE</a:t>
            </a:r>
          </a:p>
          <a:p>
            <a:pPr>
              <a:spcAft>
                <a:spcPts val="200"/>
              </a:spcAft>
              <a:defRPr sz="1050">
                <a:solidFill>
                  <a:srgbClr val="38BDF8"/>
                </a:solidFill>
                <a:latin typeface="Consolas"/>
              </a:defRPr>
            </a:pPr>
            <a:r>
              <a:t>Algorithm: Capacitated-QAOA-Optimizer(Problem, p, maxiter):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1: active_vars &lt;- SelectActiveVariables(Problem, max_qubits=10)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2: (c, Q) &lt;- BuildZeroSlackQUBO(Problem, active_vars)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3: (h, J) &lt;- MapToIsingHamiltonian(c, Q)  # x_i = (I-Z_i)/2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4: (gamma_0, beta_0) &lt;- GreedyWarmStartAngles(Problem, p)</a:t>
            </a:r>
          </a:p>
          <a:p>
            <a:pPr>
              <a:spcAft>
                <a:spcPts val="200"/>
              </a:spcAft>
              <a:defRPr sz="1050">
                <a:solidFill>
                  <a:srgbClr val="38BDF8"/>
                </a:solidFill>
                <a:latin typeface="Consolas"/>
              </a:defRPr>
            </a:pPr>
            <a:r>
              <a:t>  5: Function CostFunction(gamma, beta):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6:     |psi&gt; &lt;- |+&gt;^n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7:     for k = 1 to p do: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8:         |psi&gt; &lt;- exp(-i * gamma_k * H_C) |psi&gt;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9:         |psi&gt; &lt;- exp(-i * beta_k * H_M) |psi&gt;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10:     return &lt;psi| H_C |psi&gt;</a:t>
            </a:r>
          </a:p>
          <a:p>
            <a:pPr>
              <a:spcAft>
                <a:spcPts val="200"/>
              </a:spcAft>
              <a:defRPr sz="1050">
                <a:solidFill>
                  <a:srgbClr val="38BDF8"/>
                </a:solidFill>
                <a:latin typeface="Consolas"/>
              </a:defRPr>
            </a:pPr>
            <a:r>
              <a:t> 11: (gamma*, beta*) &lt;- COBYLA.minimize(CostFunction, init_pt)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12: |psi_final&gt; &lt;- PrepareState(gamma*, beta*)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13: shots &lt;- MeasureSamples(|psi_final|^2, count=2048)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14: best_plan &lt;- IndependentValidator.select_best_feasible(shots)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15: return best_plan, OptimalProfit, ApproxRatio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QUANTUM COMPUTING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Computational Complexity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D9488"/>
                </a:solidFill>
              </a:defRPr>
            </a:pPr>
            <a:r>
              <a:t>TIME &amp; SPACE COMPLEXITY METRICS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Quantum Circuit Time Complexity: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O(p * N^2) gate executions per shot on physical quantum hardware (where p is circuit depth and N is number of qubits).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Statevector Simulation Time: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O(K * p * 2^N) for classical simulation across K classical optimizer iterations. Drops to sub-second (0.05s) via vectorized butterfly array operations.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Physical Qubit Space Complexity: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O(N) physical qubits. Zero-Slack formulation guarantees exactly N = len(active_vars) qubits with 0 auxiliary slack qubits.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Statevector Simulation Space: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O(2^N) complex state amplitudes in classical host memory. Capping active qubits at N &lt;= 10 limits memory consumption to under 1 MB.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Classical Exact (MILP) Baseline: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O(2^N) worst-case time complexity for Branch-and-Cut simplex tree 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284C7"/>
                </a:solidFill>
              </a:defRPr>
            </a:pPr>
            <a:r>
              <a:t>ANALYTICAL EXPLANATION &amp; INSIGHTS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</a:defRPr>
            </a:pPr>
            <a:r>
              <a:t>1. Classical vs. Quantum Scaling Paradigm:</a:t>
            </a:r>
            <a:br/>
            <a:r>
              <a:t>On classical CPUs, solving NP-hard combinatorial optimization scales exponentially. On fault-tolerant quantum processors (QPUs), QAOA evaluates the superposition of all 2^N states simultaneously in O(p) circuit execution depth.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</a:defRPr>
            </a:pPr>
            <a:r>
              <a:t>2. The Simulation Bottleneck Justification:</a:t>
            </a:r>
            <a:br/>
            <a:r>
              <a:t>During classical simulation on a laptop, simulating N=10 qubits requires repeatedly transforming a 1,024-element complex vector. This mathematical overhead illustrates exactly why physical quantum hardware is necessary for large-scale logistics.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</a:defRPr>
            </a:pPr>
            <a:r>
              <a:t>3. Zero-Slack Memory Advantage:</a:t>
            </a:r>
            <a:br/>
            <a:r>
              <a:t>Standard constraint converters add 1 integer slack qubit per inequality constraint, inflating 9 decision variables to 12 qubits (4,096 states, an 8x memory surge). Our Zero-Slack quadratic formulation strictly preserves N=9 qubits.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</a:defRPr>
            </a:pPr>
            <a:r>
              <a:t>4. Polynomial Parameter Space:</a:t>
            </a:r>
            <a:br/>
            <a:r>
              <a:t>QAOA optimizes only 2p continuous variational angles regardless of problem dimension N. For depth p=1, only 2 parameters (gamma, beta) are tuned.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QUANTUM COMPUTING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System Implementation &amp;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</a:defRPr>
            </a:pPr>
            <a:r>
              <a:t>SOFTWARE &amp; FRAMEWORK STACK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Programming Language: </a:t>
            </a:r>
            <a:r>
              <a:rPr b="0">
                <a:solidFill>
                  <a:srgbClr val="475569"/>
                </a:solidFill>
              </a:rPr>
              <a:t>Python 3.12 (High-performance scientific computing)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Quantum SDK: </a:t>
            </a:r>
            <a:r>
              <a:rPr b="0">
                <a:solidFill>
                  <a:srgbClr val="475569"/>
                </a:solidFill>
              </a:rPr>
              <a:t>Qiskit 2.4 (QuantumCircuit, gate-level synthesis, Pauli operators)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Classical Mathematical Solvers: </a:t>
            </a:r>
            <a:r>
              <a:rPr b="0">
                <a:solidFill>
                  <a:srgbClr val="475569"/>
                </a:solidFill>
              </a:rPr>
              <a:t>SciPy 1.14 (HiGHS Branch-and-Cut MILP, COBYLA optimizer)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Data Ingestion &amp; Indexing: </a:t>
            </a:r>
            <a:r>
              <a:rPr b="0">
                <a:solidFill>
                  <a:srgbClr val="475569"/>
                </a:solidFill>
              </a:rPr>
              <a:t>Pandas 2.2 &amp; NumPy (O(1) hash lookups across 124k route matrix rows)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Interactive Frontend Dashboard: </a:t>
            </a:r>
            <a:r>
              <a:rPr b="0">
                <a:solidFill>
                  <a:srgbClr val="475569"/>
                </a:solidFill>
              </a:rPr>
              <a:t>Streamlit 1.38 with PyDeck 3D geospatial road arc layer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Visualization Engine: </a:t>
            </a:r>
            <a:r>
              <a:rPr b="0">
                <a:solidFill>
                  <a:srgbClr val="475569"/>
                </a:solidFill>
              </a:rPr>
              <a:t>Matplotlib 3.9 (Automated multi-solver benchmark charts &amp; heatmaps)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C3AED"/>
                </a:solidFill>
              </a:defRPr>
            </a:pPr>
            <a:r>
              <a:t>SYNTHESIZED QAOA QUANTUM CIRCUIT (9 QUBITS, DEPTH 37)</a:t>
            </a:r>
          </a:p>
        </p:txBody>
      </p:sp>
      <p:pic>
        <p:nvPicPr>
          <p:cNvPr id="8" name="Picture 7" descr="qaoa_circuit_slide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4846320" cy="2103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425196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3434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284C7"/>
                </a:solidFill>
              </a:defRPr>
            </a:pPr>
            <a:r>
              <a:t>CORE QAOA CIRCUIT SYNTHESIS (QISKIT 2.4)</a:t>
            </a:r>
          </a:p>
          <a:p>
            <a:pPr>
              <a:spcAft>
                <a:spcPts val="10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def _build_qaoa_circuit(n_q, h, J, reps, gamma, beta):</a:t>
            </a:r>
          </a:p>
          <a:p>
            <a:pPr>
              <a:spcAft>
                <a:spcPts val="10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qc = QuantumCircuit(n_q, name=f'QAOA_p{reps}')</a:t>
            </a:r>
          </a:p>
          <a:p>
            <a:pPr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qc.h(range(n_q))  # Step 1: Initial Superposition |+&gt;^n</a:t>
            </a:r>
          </a:p>
          <a:p>
            <a:pPr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for p_idx in range(reps):</a:t>
            </a:r>
          </a:p>
          <a:p>
            <a:pPr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for i in range(n_q): qc.rz(2.0 * gamma[p_idx] * h[i], i)</a:t>
            </a:r>
          </a:p>
          <a:p>
            <a:pPr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for (i, j), J_val in J.items():</a:t>
            </a:r>
          </a:p>
          <a:p>
            <a:pPr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qc.cx(i, j); qc.rz(2.0 * gamma[p_idx] * J_val, j); qc.cx(i, j)</a:t>
            </a:r>
          </a:p>
          <a:p>
            <a:pPr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for i in range(n_q): qc.rx(2.0 * beta[p_idx], i)</a:t>
            </a:r>
          </a:p>
          <a:p>
            <a:pPr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qc.measure_all()</a:t>
            </a:r>
          </a:p>
          <a:p>
            <a:pPr>
              <a:spcAft>
                <a:spcPts val="100"/>
              </a:spcAft>
              <a:defRPr sz="950">
                <a:solidFill>
                  <a:srgbClr val="94A3B8"/>
                </a:solidFill>
                <a:latin typeface="Consolas"/>
              </a:defRPr>
            </a:pPr>
            <a:r>
              <a:t>    return qc  # Native Gates: 36 CX, 27 RZ, 9 H, 9 RX, 9 Meas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QUANTUM COMPUTING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Experimental Results &amp; Solver Performance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D9488"/>
                </a:solidFill>
              </a:defRPr>
            </a:pPr>
            <a:r>
              <a:t>MULTI-SOLVER BENCHMARK RESULTS (TESTED ON REAL TAMIL NADU DATASETS)</a:t>
            </a:r>
          </a:p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Scenario 1: 3 Batches x 3 Markets (9 Decision Variables, 9 Qubits) — Pure Quantum QAOA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Consolas"/>
              </a:defRPr>
            </a:pPr>
            <a:r>
              <a:t>  • Classical Exact (MILP HiGHS) : Net Profit = Rs 194,289.10 | Capacity Valid = YES | Ratio = 100.0% | Runtime = 0.005s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Consolas"/>
              </a:defRPr>
            </a:pPr>
            <a:r>
              <a:t>  • Classical Greedy Heuristic   : Net Profit = Rs 194,289.10 | Capacity Valid = YES | Ratio = 100.0% | Runtime = 0.0001s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Consolas"/>
              </a:defRPr>
            </a:pPr>
            <a:r>
              <a:t>  • Simulated Annealing (QUBO)   : Net Profit = Rs 188,322.72 | Capacity Valid = YES | Ratio =  96.9% | Runtime = 0.006s</a:t>
            </a:r>
          </a:p>
          <a:p>
            <a:pPr>
              <a:spcAft>
                <a:spcPts val="200"/>
              </a:spcAft>
              <a:defRPr sz="1100">
                <a:solidFill>
                  <a:srgbClr val="0284C7"/>
                </a:solidFill>
                <a:latin typeface="Consolas"/>
              </a:defRPr>
            </a:pPr>
            <a:r>
              <a:t>  • Pure Quantum QAOA (p=1)      : Net Profit = Rs 194,289.10 | Capacity Valid = YES | Ratio = 100.0% | Runtime = 0.050s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Scenario 2: 4 Batches x 4 Markets (16 Decision Variables, 10 Active Qubits) — Capacity Bottleneck Test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Consolas"/>
              </a:defRPr>
            </a:pPr>
            <a:r>
              <a:t>  • Classical Exact (MILP HiGHS) : Net Profit = Rs 330,067.10 | Capacity Valid = YES | Ratio = 100.0% | Runtime = 0.015s</a:t>
            </a:r>
          </a:p>
          <a:p>
            <a:pPr>
              <a:spcAft>
                <a:spcPts val="200"/>
              </a:spcAft>
              <a:defRPr sz="1100">
                <a:solidFill>
                  <a:srgbClr val="0284C7"/>
                </a:solidFill>
                <a:latin typeface="Consolas"/>
              </a:defRPr>
            </a:pPr>
            <a:r>
              <a:t>  • Hybrid QAOA + Backfill (p=1) : Net Profit = Rs 315,542.44 | Capacity Valid = YES | Ratio =  95.6% | Runtime = 0.058s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KEY EXPERIMENTAL OBSERVATIONS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100% Feasibility Enforced: Independent validator verifies zero capacity overloads across all reporting solvers.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Zero-Slack Speedup: Pairwise quadratic penalties enabled sub-second QAOA execution (0.05s) with zero auxiliary qubits.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Ground Truth Alignment: QAOA achieved 95.6% to 100% of the provable global optimum across all test instances.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976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3891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7C3AED"/>
                </a:solidFill>
              </a:defRPr>
            </a:pPr>
            <a:r>
              <a:t>APPLICATION &amp; INTERACTIVE DASHBOARD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Streamlit Web Dashboard: Real-time UI with dynamic sliders for batches, candidate markets, QAOA circuit depth p, and max iterations.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PyDeck 3D Geospatial Map: Renders road transit connections between farm collection centres and Uzhavar Santhais in Tamil Nadu.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Dispatch Plan Export: One-click CSV export of truck allocation, expected revenue, transport diesel costs, and net margin.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QUANTUM COMPUTING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Project Conclusion &amp; Research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</a:defRPr>
            </a:pPr>
            <a:r>
              <a:t>WHAT WAS ACHIEVED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Engineered an end-to-end quantum agricultural dispatch pipeline on real Tamil Nadu geospatial and wholesale pricing data.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Formulated a Zero-Slack QUBO model enforcing batch exclusivity and market throughput limits with zero auxiliary qubits.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Implemented mathematically verified QAOA with exact Ising spin mapping (TVD = 0.0) and true multi-layer depth 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284C7"/>
                </a:solidFill>
              </a:defRPr>
            </a:pPr>
            <a:r>
              <a:t>PROBLEM ADDRESSAL &amp; REAL-WORLD FEASIBILITY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The proposed problem was successfully addressed: all generated dispatch plans strictly respect transit shelf-life deadlines.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Guaranteed zero market capacity violations via independent validation and pairwise penalty tuning.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Significant financial improvement: net profit increases by allocating produce to optimal high-value wholesale markets.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C3AED"/>
                </a:solidFill>
              </a:defRPr>
            </a:pPr>
            <a:r>
              <a:t>KEY SCIENTIFIC OBSERVATIONS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Classical statevector simulation is computationally expensive (O(2^N)), proving the fundamental necessity of physical QPUs.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Greedy warm-start angle initialization steers variational optimizers directly into the global energy minimum.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Transparent attribution separates pure quantum sampling from classical hybrid post-processing.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605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6A34A"/>
                </a:solidFill>
              </a:defRPr>
            </a:pPr>
            <a:r>
              <a:t>EFFECTIVENESS OF THE ALGORITHM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High Solution Quality: QAOA consistently attained 95.6% to 100% approximation ratio relative to the global exact optimum.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Fast Execution: Vectorized butterfly transformations execute in 0.05 seconds, suitable for live production web services.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Scalability Path: Provides a verified quantum blueprint ready for deployment on IBM Quantum Heron/Eagle hardware backends.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Aft>
                <a:spcPts val="2800"/>
              </a:spcAft>
              <a:defRPr sz="2200">
                <a:solidFill>
                  <a:srgbClr val="0D9488"/>
                </a:solidFill>
              </a:defRPr>
            </a:pPr>
            <a:r>
              <a:t>Questions &amp; Discussion</a:t>
            </a:r>
          </a:p>
          <a:p>
            <a:pPr algn="ctr">
              <a:spcAft>
                <a:spcPts val="1200"/>
              </a:spcAft>
              <a:defRPr sz="1800" b="1">
                <a:solidFill>
                  <a:srgbClr val="E2E8F0"/>
                </a:solidFill>
              </a:defRPr>
            </a:pPr>
            <a:r>
              <a:t>Raaghav vel P (CH.SC.u4cse24155)  |  Srinivas R (CH.SC.U4CSE24146)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Department of Computer Science &amp; Engineering | 5th Semester Quantum Computing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